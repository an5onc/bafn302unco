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/>
    <p:restoredTop sz="94610"/>
  </p:normalViewPr>
  <p:slideViewPr>
    <p:cSldViewPr snapToGrid="0" snapToObjects="1">
      <p:cViewPr varScale="1">
        <p:scale>
          <a:sx n="222" d="100"/>
          <a:sy n="222" d="100"/>
        </p:scale>
        <p:origin x="1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162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fn302unco.com/project-hailmary/hom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fn302unco.com/project-hailmary/ans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fn302unco.com/project-hailmary/mike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fn302unco.com/project-hailmary/paig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afn302unco.com/project-hailmary/reflec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91440"/>
          </a:xfrm>
          <a:prstGeom prst="rect">
            <a:avLst/>
          </a:prstGeom>
          <a:solidFill>
            <a:srgbClr val="E82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4952" y="0"/>
            <a:ext cx="3054096" cy="91440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9048" y="0"/>
            <a:ext cx="3044952" cy="9144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BAFN 302  ·  ESSENTIALS OF FINANCE  ·  SPRING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Hail Mary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Buy-and-Track Market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2724912"/>
            <a:ext cx="2743200" cy="13716"/>
          </a:xfrm>
          <a:prstGeom prst="rect">
            <a:avLst/>
          </a:prstGeom>
          <a:solidFill>
            <a:srgbClr val="1E2D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 simulated investment  ·  Jan 5, 2021 → Apr 27, 2026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portfolios · Four shared ETFs · One assigned stock each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1920240" cy="777240"/>
          </a:xfrm>
          <a:prstGeom prst="rect">
            <a:avLst/>
          </a:prstGeom>
          <a:solidFill>
            <a:srgbClr val="111C35"/>
          </a:solidFill>
          <a:ln w="12700">
            <a:solidFill>
              <a:srgbClr val="E82127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3749040"/>
            <a:ext cx="64008" cy="777240"/>
          </a:xfrm>
          <a:prstGeom prst="rect">
            <a:avLst/>
          </a:prstGeom>
          <a:solidFill>
            <a:srgbClr val="E82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14984" y="376732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ANSON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E82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3749040"/>
            <a:ext cx="1920240" cy="777240"/>
          </a:xfrm>
          <a:prstGeom prst="rect">
            <a:avLst/>
          </a:prstGeom>
          <a:solidFill>
            <a:srgbClr val="111C35"/>
          </a:solidFill>
          <a:ln w="12700">
            <a:solidFill>
              <a:srgbClr val="20C997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11880" y="3749040"/>
            <a:ext cx="64008" cy="777240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58184" y="376732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MIKEY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20C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749040"/>
            <a:ext cx="1920240" cy="777240"/>
          </a:xfrm>
          <a:prstGeom prst="rect">
            <a:avLst/>
          </a:prstGeom>
          <a:solidFill>
            <a:srgbClr val="111C35"/>
          </a:solidFill>
          <a:ln w="12700">
            <a:solidFill>
              <a:srgbClr val="A855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3749040"/>
            <a:ext cx="64008" cy="77724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01384" y="376732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PAIGE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BRK.B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hlinkClick r:id="rId3"/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3D55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bafn302unco.com/project-hailmary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2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BAFN 302  ·  PORTFOLIO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Anson's Portfolio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960120" cy="274320"/>
          </a:xfrm>
          <a:prstGeom prst="rect">
            <a:avLst/>
          </a:prstGeom>
          <a:solidFill>
            <a:srgbClr val="E82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3258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13441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individual stock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719072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4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Anson's portfolio tracked a $50,000 simulation across five positions from January 5, 2021. His assigned stock, Tesla (TSLA), delivered a 54.49% return over the period — but still finished 4th of 5 holdings. The ETF core drove the real performance: SPY +92.60%, QQQ +113.02% (the project's top performer), and VUG +99.37%. Tesla's 2022 collapse to below $125 (a 67% drop) tested patience, but the position recovered as the company refocused on full self-driving and robotaxi development. Combined, the portfolio grew to $84,380.34 — a 68.76% total return over 5.3 years. What surprised Anson most: SPY beat his Tesla pick by nearly $3,800 with no single-company headline risk.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Holdings: TSLA  ·  SPY  ·  QQQ  ·  VUG  ·  AGG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57800" y="384048"/>
            <a:ext cx="3611880" cy="12801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57800" y="384048"/>
            <a:ext cx="64008" cy="1280160"/>
          </a:xfrm>
          <a:prstGeom prst="rect">
            <a:avLst/>
          </a:prstGeom>
          <a:solidFill>
            <a:srgbClr val="E82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22392" y="51206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VALUE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22392" y="841248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$84,380.34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257800" y="1847088"/>
            <a:ext cx="3611880" cy="12801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1847088"/>
            <a:ext cx="64008" cy="1280160"/>
          </a:xfrm>
          <a:prstGeom prst="rect">
            <a:avLst/>
          </a:prstGeom>
          <a:solidFill>
            <a:srgbClr val="E82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22392" y="197510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22392" y="2304288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+68.76%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257800" y="3310128"/>
            <a:ext cx="3611880" cy="12801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57800" y="3310128"/>
            <a:ext cx="64008" cy="1280160"/>
          </a:xfrm>
          <a:prstGeom prst="rect">
            <a:avLst/>
          </a:prstGeom>
          <a:solidFill>
            <a:srgbClr val="E82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22392" y="343814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(ANNUAL)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22392" y="3767328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10.36% / yr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hlinkClick r:id="rId3"/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3D55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bafn302unco.com/project-hailmary/anson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BAFN 302  ·  PORTFOLIO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Mikey's Portfolio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960120" cy="274320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3258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13441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individual stock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719072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4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Mikey's portfolio paired Electronic Arts (EA) — publisher of EA SPORTS FC, Madden, Battlefield, and Apex Legends — with the same four-ETF core. EA spent much of the period trading near or below its $141.32 buy price, weighed down by a bookings guidance cut in 2024 and intensifying competition in the live-service gaming market. The stock surged in 2025–26 to close at $202.45, delivering a 43.25% gain — slightly trailing Anson's Tesla. The shared ETFs did the heavy lifting throughout, keeping the portfolio healthy even when EA lagged. Final value: $83,256.67 — a 66.51% total return and a CAGR of 10.08%. What surprised Mikey most: EA still trailed QQQ by ~70 percentage points — knowing the product isn't the same as having an investing edge.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Holdings: EA  ·  SPY  ·  QQQ  ·  VUG  ·  AGG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57800" y="384048"/>
            <a:ext cx="3611880" cy="12801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57800" y="384048"/>
            <a:ext cx="64008" cy="1280160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22392" y="51206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VALUE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22392" y="841248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$83,256.67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257800" y="1847088"/>
            <a:ext cx="3611880" cy="12801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1847088"/>
            <a:ext cx="64008" cy="1280160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22392" y="197510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22392" y="2304288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+66.51%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257800" y="3310128"/>
            <a:ext cx="3611880" cy="12801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57800" y="3310128"/>
            <a:ext cx="64008" cy="1280160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22392" y="343814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(ANNUAL)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22392" y="3767328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10.08% / yr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hlinkClick r:id="rId3"/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3D55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bafn302unco.com/project-hailmary/mikey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182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BAFN 302  ·  PORTFOLIO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Paige's Portfolio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960120" cy="2743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3258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BRK.B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13441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individual stock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719072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4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Paige's portfolio is the group's top performer, anchored by Berkshire Hathaway (BRK.B) as her assigned individual stock. BRK.B more than doubled — from $227.47 to $472.81 — adding $10,784.73 to the portfolio on its own, a 107.85% return and CAGR of 14.78%. Unlike Tesla or EA, BRK.B posted steady gains in nearly every year of the period, compounding through insurance underwriting, BNSF railroad, energy operations, and a disciplined equity portfolio. The stock required no earnings-call monitoring or headline tracking — it simply grew. Combined with the ETF core, Paige's portfolio reached $89,716.04 — the highest of the three members. What surprised Paige most: BRK.B was the strongest individual stock pick — only narrowly edged out by QQQ at the very end.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Holdings: BRK.B  ·  SPY  ·  QQQ  ·  VUG  ·  AGG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57800" y="384048"/>
            <a:ext cx="3611880" cy="12801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57800" y="384048"/>
            <a:ext cx="64008" cy="12801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22392" y="51206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VALUE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22392" y="841248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$89,716.04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257800" y="1847088"/>
            <a:ext cx="3611880" cy="12801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57800" y="1847088"/>
            <a:ext cx="64008" cy="12801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22392" y="197510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22392" y="2304288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+79.43%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257800" y="3310128"/>
            <a:ext cx="3611880" cy="12801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257800" y="3310128"/>
            <a:ext cx="64008" cy="12801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22392" y="343814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(ANNUAL)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22392" y="3767328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11.65% / yr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hlinkClick r:id="rId3"/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3D55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bafn302unco.com/project-hailmary/paige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82296"/>
          </a:xfrm>
          <a:prstGeom prst="rect">
            <a:avLst/>
          </a:prstGeom>
          <a:solidFill>
            <a:srgbClr val="E821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4952" y="0"/>
            <a:ext cx="3054096" cy="82296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9048" y="0"/>
            <a:ext cx="3044952" cy="8229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Reflection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160520" cy="15087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64008" cy="1508760"/>
          </a:xfrm>
          <a:prstGeom prst="rect">
            <a:avLst/>
          </a:prstGeom>
          <a:solidFill>
            <a:srgbClr val="F2B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B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investment grew the most?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" y="144475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led the entire project at +113.02%, narrowly beating BRK.B at +107.85% — the only individual stock to even come close to the top growth ETF. QQQ turned $10,000 into $21,302.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60520" cy="15087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64008" cy="1508760"/>
          </a:xfrm>
          <a:prstGeom prst="rect">
            <a:avLst/>
          </a:prstGeom>
          <a:solidFill>
            <a:srgbClr val="58A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9472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was most stable?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19472" y="144475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moved least day-to-day but still lost 15.67% to rate hikes. Among equities, SPY was steadiest — broad exposure across 500 companies smoothed every major swing.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852928"/>
            <a:ext cx="4160520" cy="15087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852928"/>
            <a:ext cx="64008" cy="1508760"/>
          </a:xfrm>
          <a:prstGeom prst="rect">
            <a:avLst/>
          </a:prstGeom>
          <a:solidFill>
            <a:srgbClr val="C6D0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" y="2944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D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AGG behave during volatility?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" y="32918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2022, the stock-bond correlation broke down: AGG fell alongside equities as the Fed raised rates 425 bps. Bonds did not cushion the portfolio the way textbooks predict.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52928"/>
            <a:ext cx="4160520" cy="1508760"/>
          </a:xfrm>
          <a:prstGeom prst="rect">
            <a:avLst/>
          </a:prstGeom>
          <a:solidFill>
            <a:srgbClr val="111C35"/>
          </a:solidFill>
          <a:ln/>
          <a:effectLst>
            <a:outerShdw blurRad="1016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852928"/>
            <a:ext cx="64008" cy="1508760"/>
          </a:xfrm>
          <a:prstGeom prst="rect">
            <a:avLst/>
          </a:prstGeom>
          <a:solidFill>
            <a:srgbClr val="20C9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9472" y="2944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real money, what surprised you most?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19472" y="32918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4C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ETFs outperformed two of the three individual stocks. The "boring" index funds beat active stock picks over 5 years — the clearest lesson of the whole project.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hlinkClick r:id="rId3"/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3D55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bafn302unco.com/project-hailmary/reflection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711</Words>
  <Application>Microsoft Macintosh PowerPoint</Application>
  <PresentationFormat>On-screen Show (16:9)</PresentationFormat>
  <Paragraphs>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Hail Mary · BAFN 302 · Spring 2026</dc:title>
  <dc:subject>PptxGenJS Presentation</dc:subject>
  <dc:creator>Anson, Mikey, Paige</dc:creator>
  <cp:lastModifiedBy>Cordeiro, Anson</cp:lastModifiedBy>
  <cp:revision>1</cp:revision>
  <dcterms:created xsi:type="dcterms:W3CDTF">2026-04-10T22:13:09Z</dcterms:created>
  <dcterms:modified xsi:type="dcterms:W3CDTF">2026-04-10T23:01:08Z</dcterms:modified>
</cp:coreProperties>
</file>